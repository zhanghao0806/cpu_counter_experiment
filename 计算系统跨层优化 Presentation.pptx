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79" r:id="rId2"/>
    <p:sldId id="258" r:id="rId3"/>
    <p:sldId id="271" r:id="rId4"/>
    <p:sldId id="276" r:id="rId5"/>
    <p:sldId id="277" r:id="rId6"/>
    <p:sldId id="272" r:id="rId7"/>
    <p:sldId id="273" r:id="rId8"/>
    <p:sldId id="278" r:id="rId9"/>
    <p:sldId id="274" r:id="rId10"/>
    <p:sldId id="25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78493"/>
  </p:normalViewPr>
  <p:slideViewPr>
    <p:cSldViewPr snapToGrid="0">
      <p:cViewPr varScale="1">
        <p:scale>
          <a:sx n="98" d="100"/>
          <a:sy n="98" d="100"/>
        </p:scale>
        <p:origin x="1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02CB-3737-8270-4241-63EEE642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E1BE7-1479-F462-53CF-1675CEC3F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04D23-C1E0-8A79-410C-044C7448C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06F68-2B36-4CD2-38F9-8FFFF7D2BF6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9830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4552-244B-9253-B904-603D77C6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F99E7-CD8C-A95B-3C58-4C19ED5C8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2F523-5EF8-9502-7CCA-B5F9E5DE6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先说</a:t>
            </a:r>
            <a:r>
              <a:rPr lang="en-US" altLang="zh-CN" dirty="0"/>
              <a:t> </a:t>
            </a:r>
            <a:r>
              <a:rPr lang="zh-CN" altLang="en-US" dirty="0"/>
              <a:t>三种配置是干嘛的；</a:t>
            </a:r>
            <a:endParaRPr lang="en-US" altLang="zh-CN" dirty="0"/>
          </a:p>
          <a:p>
            <a:r>
              <a:rPr lang="en-US" altLang="zh-CN" dirty="0"/>
              <a:t>Global</a:t>
            </a:r>
            <a:r>
              <a:rPr lang="zh-CN" altLang="en-US" dirty="0"/>
              <a:t> 是为了做实验一，不同线程数量，比较任务耗时；</a:t>
            </a:r>
            <a:endParaRPr lang="en-US" altLang="zh-CN" dirty="0"/>
          </a:p>
          <a:p>
            <a:r>
              <a:rPr lang="en-US" altLang="zh-CN" dirty="0"/>
              <a:t>Compact</a:t>
            </a:r>
            <a:r>
              <a:rPr lang="zh-CN" altLang="en-US" dirty="0"/>
              <a:t> 和 </a:t>
            </a:r>
            <a:r>
              <a:rPr lang="en-US" altLang="zh-CN" dirty="0"/>
              <a:t>padded</a:t>
            </a:r>
            <a:r>
              <a:rPr lang="zh-CN" altLang="en-US" dirty="0"/>
              <a:t> 是对照实验，在相同的线程数量下，计数器不同的内存布局，对多线程性能的影响；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F95FE-4FF5-1014-C75A-5B498CC8849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8835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68324-E2B8-EC13-B64D-E45F1302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7B1D-4DE2-2EB5-C1D2-948E8DDFD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20025-50B2-B9A2-BF55-FA50229F6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修改、更新数据是按照一个缓存行的大小，这里是 </a:t>
            </a:r>
            <a:r>
              <a:rPr lang="en-US" altLang="zh-CN" dirty="0"/>
              <a:t>64 </a:t>
            </a:r>
            <a:r>
              <a:rPr lang="zh-CN" altLang="en-US" dirty="0"/>
              <a:t>字节；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主存中一段连续的地址叫做 缓存行；</a:t>
            </a:r>
            <a:endParaRPr lang="en-US" altLang="zh-CN" dirty="0"/>
          </a:p>
          <a:p>
            <a:r>
              <a:rPr lang="zh-CN" altLang="en-US" dirty="0"/>
              <a:t>左边图展现的就是 </a:t>
            </a:r>
            <a:r>
              <a:rPr lang="en-US" altLang="zh-CN" dirty="0"/>
              <a:t>8 </a:t>
            </a:r>
            <a:r>
              <a:rPr lang="zh-CN" altLang="en-US" dirty="0"/>
              <a:t>个计数器在同一个缓存行；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52153-9D89-14B7-25BF-031EF239AF5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4136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EE29-9486-C844-B4FA-EFEAAC0F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61598-B52F-5FE2-FA49-B4C53949C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B1B61-E902-7B51-ADE2-BFD3E69B1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这是一个简单的缓存层次示意图；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57BCB-316A-A0E7-E752-300C13E0657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5351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8F78D-70AA-F23D-C543-12C3F71A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9AF2E-8816-9A56-F1B6-F85B1F198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EAA3C-9BF1-B240-A0D1-ECD730991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C8F3B-5827-EFAF-9662-C78B76C67D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1442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19A0A-47BB-F761-3658-9449A731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ED2B0-2DD1-C9DC-44E7-6548606D9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16BE1-F337-2240-2081-14E506CF7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第一组还可以作为对比实验，单线程的情况下 没有影响；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C9DFA-42C7-9744-A28F-0AFC8EB268F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9373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14887-4D46-7C55-4A84-2B1AD63B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A80807-6477-97C3-F705-D1DC7C022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9DE26-6D1F-ABBF-B6E3-0CC0D996D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实验二证明了这一点；</a:t>
            </a:r>
            <a:endParaRPr lang="en-US" altLang="zh-CN" dirty="0"/>
          </a:p>
          <a:p>
            <a:r>
              <a:rPr lang="zh-CN" altLang="en-US" dirty="0"/>
              <a:t>解释软件层面独立，但是硬件层面没有独立；</a:t>
            </a:r>
            <a:endParaRPr lang="en-US" altLang="zh-CN" dirty="0"/>
          </a:p>
          <a:p>
            <a:r>
              <a:rPr lang="zh-CN" altLang="en-US" dirty="0"/>
              <a:t>各个线程看似拥有自己的计数器，修改的是自己的独立变量；但实际他们存放在同一个缓存行，</a:t>
            </a:r>
            <a:r>
              <a:rPr lang="en-US" altLang="zh-CN" dirty="0"/>
              <a:t>CPU </a:t>
            </a:r>
            <a:r>
              <a:rPr lang="zh-CN" altLang="en-US" dirty="0"/>
              <a:t>层面更新这些参数并不是独立的；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在计算资源越来越多的今天，无脑加卡，认为可以提升模型的训练速度；但是一旦卡增加，卡之间的数据通信一定会成为新的瓶颈。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92ED2-06ED-C529-0B45-5DC5789D392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821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72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0E1D349D-CC2E-4DBA-B1FC-DD5E763C72C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/>
        </p:blipFill>
        <p:spPr>
          <a:xfrm>
            <a:off x="2857500" y="304800"/>
            <a:ext cx="6477000" cy="6477000"/>
          </a:xfrm>
          <a:prstGeom prst="rect">
            <a:avLst/>
          </a:prstGeom>
        </p:spPr>
      </p:pic>
      <p:sp>
        <p:nvSpPr>
          <p:cNvPr id="2" name="浙江大学">
            <a:extLst>
              <a:ext uri="{FF2B5EF4-FFF2-40B4-BE49-F238E27FC236}">
                <a16:creationId xmlns:a16="http://schemas.microsoft.com/office/drawing/2014/main" id="{96FB43BC-EA64-4F3D-8992-29BDFF29AB17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 algn="l"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BD3F3E-0EBE-4391-87BB-4CA614E7E8B3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10744200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DC678A-5504-4665-82FE-FC7559DE89BE}"/>
              </a:ext>
            </a:extLst>
          </p:cNvPr>
          <p:cNvSpPr>
            <a:spLocks noGrp="1"/>
          </p:cNvSpPr>
          <p:nvPr/>
        </p:nvSpPr>
        <p:spPr>
          <a:xfrm>
            <a:off x="723900" y="6000750"/>
            <a:ext cx="10744200" cy="9525"/>
          </a:xfrm>
          <a:prstGeom prst="rect">
            <a:avLst/>
          </a:prstGeom>
          <a:solidFill>
            <a:srgbClr val="D8E4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学术组会汇报">
            <a:extLst>
              <a:ext uri="{FF2B5EF4-FFF2-40B4-BE49-F238E27FC236}">
                <a16:creationId xmlns:a16="http://schemas.microsoft.com/office/drawing/2014/main" id="{708BE58C-9953-48D8-9911-BED8B37AE011}"/>
              </a:ext>
            </a:extLst>
          </p:cNvPr>
          <p:cNvSpPr>
            <a:spLocks noGrp="1"/>
          </p:cNvSpPr>
          <p:nvPr/>
        </p:nvSpPr>
        <p:spPr>
          <a:xfrm>
            <a:off x="513464" y="1709737"/>
            <a:ext cx="11678536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 algn="l"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为什么</a:t>
            </a:r>
            <a:r>
              <a:rPr lang="en-US" altLang="zh-CN" dirty="0"/>
              <a:t> CPU </a:t>
            </a:r>
            <a:r>
              <a:rPr lang="zh-CN" altLang="en-US" dirty="0"/>
              <a:t>核心更多程序不一定更快</a:t>
            </a:r>
            <a:endParaRPr sz="5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66BF57-9A5F-FA31-BEA6-F609BE3B1B4F}"/>
              </a:ext>
            </a:extLst>
          </p:cNvPr>
          <p:cNvSpPr>
            <a:spLocks noGrp="1"/>
          </p:cNvSpPr>
          <p:nvPr/>
        </p:nvSpPr>
        <p:spPr>
          <a:xfrm>
            <a:off x="742950" y="5162550"/>
            <a:ext cx="2776427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2026 </a:t>
            </a:r>
            <a:r>
              <a:rPr sz="2100" b="0" dirty="0" err="1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年</a:t>
            </a:r>
            <a:r>
              <a:rPr sz="2100" b="0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10 </a:t>
            </a:r>
            <a:r>
              <a:rPr sz="2100" b="0" dirty="0" err="1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月</a:t>
            </a:r>
            <a:r>
              <a:rPr sz="2100" b="0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2100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27</a:t>
            </a:r>
            <a:r>
              <a:rPr sz="2100" b="0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00" b="0" dirty="0" err="1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日</a:t>
            </a:r>
            <a:endParaRPr sz="2100" b="0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D307B6-A7F9-2D12-8120-DCFFB589F0D6}"/>
              </a:ext>
            </a:extLst>
          </p:cNvPr>
          <p:cNvSpPr>
            <a:spLocks noGrp="1"/>
          </p:cNvSpPr>
          <p:nvPr/>
        </p:nvSpPr>
        <p:spPr>
          <a:xfrm>
            <a:off x="4543300" y="2890874"/>
            <a:ext cx="7648700" cy="6381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5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2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从缓存一致性到多线程数据布局优化</a:t>
            </a:r>
            <a:endParaRPr lang="en-US" altLang="zh-CN" sz="32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050891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01A923F-3552-F8BE-53DD-2859F105B266}"/>
              </a:ext>
            </a:extLst>
          </p:cNvPr>
          <p:cNvSpPr>
            <a:spLocks noGrp="1"/>
          </p:cNvSpPr>
          <p:nvPr/>
        </p:nvSpPr>
        <p:spPr>
          <a:xfrm>
            <a:off x="539387" y="3771901"/>
            <a:ext cx="10972800" cy="98107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C94B8D-0A54-6B70-7C96-E4EEC371182B}"/>
              </a:ext>
            </a:extLst>
          </p:cNvPr>
          <p:cNvSpPr>
            <a:spLocks noGrp="1"/>
          </p:cNvSpPr>
          <p:nvPr/>
        </p:nvSpPr>
        <p:spPr>
          <a:xfrm>
            <a:off x="539387" y="1790699"/>
            <a:ext cx="10972800" cy="98107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07570-5313-4BC7-B179-435F5955F2B4}"/>
              </a:ext>
            </a:extLst>
          </p:cNvPr>
          <p:cNvSpPr>
            <a:spLocks noGrp="1"/>
          </p:cNvSpPr>
          <p:nvPr/>
        </p:nvSpPr>
        <p:spPr>
          <a:xfrm>
            <a:off x="539387" y="2000249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4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问题一：增加</a:t>
            </a:r>
            <a:r>
              <a:rPr lang="en-US" altLang="zh-CN" sz="24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CPU </a:t>
            </a:r>
            <a:r>
              <a:rPr lang="zh-CN" altLang="en-US" sz="24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线程数，性能一定提高吗？</a:t>
            </a:r>
            <a:endParaRPr sz="24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3700" y="161925"/>
            <a:ext cx="1028700" cy="10287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AF8EFBF-6AE2-476A-BD3C-CF35F7948A56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212D38-5424-4282-81EF-C980D7EA60D9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28700" cy="28575"/>
          </a:xfrm>
          <a:prstGeom prst="rect">
            <a:avLst/>
          </a:prstGeom>
          <a:solidFill>
            <a:srgbClr val="003F8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14D43E-5617-4E18-8EBE-1B1FE9E1ED3C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72800" cy="9525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A382B5-A9E2-4E24-8BFF-E28460B15176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rPr>
              <a:t>zhanghao4536@zju.edu.dn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D2B6EA-A6C9-480F-81EC-97F4A1C9B44F}"/>
              </a:ext>
            </a:extLst>
          </p:cNvPr>
          <p:cNvSpPr>
            <a:spLocks noGrp="1"/>
          </p:cNvSpPr>
          <p:nvPr/>
        </p:nvSpPr>
        <p:spPr>
          <a:xfrm>
            <a:off x="11068050" y="63722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E4B363-2435-A577-72DE-232F7E7185ED}"/>
              </a:ext>
            </a:extLst>
          </p:cNvPr>
          <p:cNvSpPr>
            <a:spLocks noGrp="1"/>
          </p:cNvSpPr>
          <p:nvPr/>
        </p:nvSpPr>
        <p:spPr>
          <a:xfrm>
            <a:off x="539387" y="4086226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4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问题二：线程数量相同情况下，不同内存布局对性能的影响？</a:t>
            </a:r>
            <a:endParaRPr sz="24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E42363-62AB-D34F-F42F-8D17339B1CCF}"/>
              </a:ext>
            </a:extLst>
          </p:cNvPr>
          <p:cNvSpPr>
            <a:spLocks noGrp="1"/>
          </p:cNvSpPr>
          <p:nvPr/>
        </p:nvSpPr>
        <p:spPr>
          <a:xfrm>
            <a:off x="539387" y="495300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0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探究问题</a:t>
            </a:r>
            <a:endParaRPr sz="30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093348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EC564-38E7-40F7-BD58-6934ED3D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3EC79EC-89D9-677A-E127-E8F932720949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0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实验设计</a:t>
            </a:r>
            <a:endParaRPr sz="30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1FC19EF-5CAA-4B97-4C6B-7E055030A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3700" y="161925"/>
            <a:ext cx="1028700" cy="10287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AD4C6B2-AE62-73CC-F798-7309F92AE679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93F9C2-DE1C-BC11-1E7E-14821FF3853C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28700" cy="28575"/>
          </a:xfrm>
          <a:prstGeom prst="rect">
            <a:avLst/>
          </a:prstGeom>
          <a:solidFill>
            <a:srgbClr val="003F8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83C7E0-6BF0-2717-57F6-EFA7FF2AC039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72800" cy="9525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92BD8B-2CEE-F21E-D406-C79C88995825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rPr>
              <a:t>zhanghao4536@zju.edu.dn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4E6ADD-2F9F-494D-A74D-A1402CDD3892}"/>
              </a:ext>
            </a:extLst>
          </p:cNvPr>
          <p:cNvSpPr>
            <a:spLocks noGrp="1"/>
          </p:cNvSpPr>
          <p:nvPr/>
        </p:nvSpPr>
        <p:spPr>
          <a:xfrm>
            <a:off x="11068050" y="63722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3C85C5-036A-5244-B358-C293E167B6ED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567543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负载设计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9E6D1C-CBC8-A59B-263C-50D31F868371}"/>
              </a:ext>
            </a:extLst>
          </p:cNvPr>
          <p:cNvSpPr>
            <a:spLocks noGrp="1"/>
          </p:cNvSpPr>
          <p:nvPr/>
        </p:nvSpPr>
        <p:spPr>
          <a:xfrm>
            <a:off x="2490651" y="1752600"/>
            <a:ext cx="6792686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4364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多线程个更新计数器，计数器达到 </a:t>
            </a:r>
            <a:r>
              <a:rPr lang="en-US" altLang="zh-CN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12 </a:t>
            </a: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亿次，任务完成</a:t>
            </a:r>
            <a:endParaRPr sz="1875" b="0" dirty="0">
              <a:solidFill>
                <a:srgbClr val="24364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D1295A-AA2F-8ADE-9F6B-67903BC80913}"/>
              </a:ext>
            </a:extLst>
          </p:cNvPr>
          <p:cNvSpPr>
            <a:spLocks noGrp="1"/>
          </p:cNvSpPr>
          <p:nvPr/>
        </p:nvSpPr>
        <p:spPr>
          <a:xfrm>
            <a:off x="609599" y="2619375"/>
            <a:ext cx="1567543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实验</a:t>
            </a: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1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A58647-D13F-7A08-D414-CB299584B17F}"/>
              </a:ext>
            </a:extLst>
          </p:cNvPr>
          <p:cNvSpPr>
            <a:spLocks noGrp="1"/>
          </p:cNvSpPr>
          <p:nvPr/>
        </p:nvSpPr>
        <p:spPr>
          <a:xfrm>
            <a:off x="2577736" y="2595562"/>
            <a:ext cx="8055429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4364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不同线程数（</a:t>
            </a:r>
            <a:r>
              <a:rPr lang="en-US" altLang="zh-CN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1,2,4,8,16,32</a:t>
            </a: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）共同更新一个全局计数器，比较完成任务耗时</a:t>
            </a:r>
            <a:endParaRPr sz="1875" b="0" dirty="0">
              <a:solidFill>
                <a:srgbClr val="24364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E85ABD-BD65-F411-61BF-F578FE1801AD}"/>
              </a:ext>
            </a:extLst>
          </p:cNvPr>
          <p:cNvSpPr>
            <a:spLocks noGrp="1"/>
          </p:cNvSpPr>
          <p:nvPr/>
        </p:nvSpPr>
        <p:spPr>
          <a:xfrm>
            <a:off x="609599" y="3408624"/>
            <a:ext cx="1567543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实验</a:t>
            </a: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2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28FBF8-7C71-2D55-A698-83A5C2CECA72}"/>
              </a:ext>
            </a:extLst>
          </p:cNvPr>
          <p:cNvSpPr>
            <a:spLocks noGrp="1"/>
          </p:cNvSpPr>
          <p:nvPr/>
        </p:nvSpPr>
        <p:spPr>
          <a:xfrm>
            <a:off x="2577736" y="3459956"/>
            <a:ext cx="8055429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4364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相同线程数，在不同的内存布局下，比较哪种任务耗时更大</a:t>
            </a:r>
            <a:endParaRPr sz="1875" b="0" dirty="0">
              <a:solidFill>
                <a:srgbClr val="24364B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25623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6D032-482B-69B0-7EA3-00D825C0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D87DA98-6B0F-243D-1873-E0B436160940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0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计数器更新的三种方式</a:t>
            </a:r>
            <a:endParaRPr sz="30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E981412-7BA5-4744-F4C1-15DAA4137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3700" y="161925"/>
            <a:ext cx="1028700" cy="10287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E33285D-B2BE-7B85-0776-50ED967E1A63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FA8632-F45E-62A3-FA2E-0204B968D188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28700" cy="28575"/>
          </a:xfrm>
          <a:prstGeom prst="rect">
            <a:avLst/>
          </a:prstGeom>
          <a:solidFill>
            <a:srgbClr val="003F8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2FFC9A-411C-2AD0-D044-7BC925940F4D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72800" cy="9525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FE3D31-4115-29E6-1B6C-EC3C0EF49756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rPr>
              <a:t>zhanghao4536@zju.edu.dn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11FE0C-1A8F-8628-CF25-E1BA6AE061DC}"/>
              </a:ext>
            </a:extLst>
          </p:cNvPr>
          <p:cNvSpPr>
            <a:spLocks noGrp="1"/>
          </p:cNvSpPr>
          <p:nvPr/>
        </p:nvSpPr>
        <p:spPr>
          <a:xfrm>
            <a:off x="11068050" y="63722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81400BF-C588-0CF4-26C7-817E94C67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43025"/>
            <a:ext cx="1064993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7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55FF5-BF0B-ADCA-553B-CC085B0EA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E783F10-C5A5-C936-521D-7E2195F7A9DB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0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硬件原理：缓存行</a:t>
            </a:r>
            <a:endParaRPr sz="30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A03F3DA-7B27-C5DF-12AD-1591953F5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3700" y="161925"/>
            <a:ext cx="1028700" cy="10287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256D7CA-9958-E73D-85F1-AA8E9CEE04BB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D59336-9AED-E254-946C-357AE8437084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28700" cy="28575"/>
          </a:xfrm>
          <a:prstGeom prst="rect">
            <a:avLst/>
          </a:prstGeom>
          <a:solidFill>
            <a:srgbClr val="003F8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9A7ED0-31DA-2713-6B7A-2B8620136ED7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72800" cy="9525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22D114-803F-79AF-2ACB-19300168008D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rPr>
              <a:t>zhanghao4536@zju.edu.dn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4234FF-2719-0DCB-394A-E036A59AA8C5}"/>
              </a:ext>
            </a:extLst>
          </p:cNvPr>
          <p:cNvSpPr>
            <a:spLocks noGrp="1"/>
          </p:cNvSpPr>
          <p:nvPr/>
        </p:nvSpPr>
        <p:spPr>
          <a:xfrm>
            <a:off x="11068050" y="63722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B338EE-62CF-6415-E3AE-F70E9C8DCF52}"/>
              </a:ext>
            </a:extLst>
          </p:cNvPr>
          <p:cNvSpPr>
            <a:spLocks noGrp="1"/>
          </p:cNvSpPr>
          <p:nvPr/>
        </p:nvSpPr>
        <p:spPr>
          <a:xfrm>
            <a:off x="609601" y="1752600"/>
            <a:ext cx="10287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缓存行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7A36A5-8FB4-858A-71D1-107BDB3985E8}"/>
              </a:ext>
            </a:extLst>
          </p:cNvPr>
          <p:cNvSpPr>
            <a:spLocks noGrp="1"/>
          </p:cNvSpPr>
          <p:nvPr/>
        </p:nvSpPr>
        <p:spPr>
          <a:xfrm>
            <a:off x="2182426" y="1752600"/>
            <a:ext cx="3030597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4364B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875" b="0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CPU </a:t>
            </a: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管理数据的基本单位</a:t>
            </a:r>
            <a:endParaRPr sz="1875" b="0" dirty="0">
              <a:solidFill>
                <a:srgbClr val="24364B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B7EAD19-6E3B-7C3C-81D3-AD9F2686D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3419960"/>
            <a:ext cx="7772400" cy="253268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F3D91EF-6F91-7D44-5E4A-A56C38CF0A63}"/>
              </a:ext>
            </a:extLst>
          </p:cNvPr>
          <p:cNvSpPr>
            <a:spLocks noGrp="1"/>
          </p:cNvSpPr>
          <p:nvPr/>
        </p:nvSpPr>
        <p:spPr>
          <a:xfrm>
            <a:off x="9069308" y="3664826"/>
            <a:ext cx="1588532" cy="136437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4364B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1875" dirty="0" err="1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每个线程的计数器</a:t>
            </a: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8B</a:t>
            </a: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，位于同一个缓存行；</a:t>
            </a:r>
            <a:endParaRPr sz="1875" b="0" dirty="0">
              <a:solidFill>
                <a:srgbClr val="24364B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4195466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38EB8-F059-9039-3F1F-EFE5E1C8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B80CDC7-F96F-E604-95A2-E5BCE2EABE03}"/>
              </a:ext>
            </a:extLst>
          </p:cNvPr>
          <p:cNvSpPr>
            <a:spLocks noGrp="1"/>
          </p:cNvSpPr>
          <p:nvPr/>
        </p:nvSpPr>
        <p:spPr>
          <a:xfrm>
            <a:off x="330200" y="5461318"/>
            <a:ext cx="11531600" cy="910907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EA7029-3A97-C0B8-CBEA-9F3D5E2FCE88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0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各线程计数器位于同一缓存行，会带来什么开销？</a:t>
            </a:r>
            <a:endParaRPr sz="30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5CDB8A9-6C66-F2B3-C081-90DD44E92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3700" y="161925"/>
            <a:ext cx="1028700" cy="10287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D9F6117-9FEC-0457-55A3-436D27A1D7FD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E7A2DE-6390-23C2-5399-1AE0AD08157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28700" cy="28575"/>
          </a:xfrm>
          <a:prstGeom prst="rect">
            <a:avLst/>
          </a:prstGeom>
          <a:solidFill>
            <a:srgbClr val="003F8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11241C-FB1B-0AD0-8B75-488157F80571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72800" cy="9525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B27600-B243-B508-96B6-5857ECE3EDEE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rPr>
              <a:t>zhanghao4536@zju.edu.dn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C680C5-3ABD-CCAA-690E-24DB56EAAC40}"/>
              </a:ext>
            </a:extLst>
          </p:cNvPr>
          <p:cNvSpPr>
            <a:spLocks noGrp="1"/>
          </p:cNvSpPr>
          <p:nvPr/>
        </p:nvSpPr>
        <p:spPr>
          <a:xfrm>
            <a:off x="11068050" y="63722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902CA2-6AD7-F487-A592-456D779A30CF}"/>
              </a:ext>
            </a:extLst>
          </p:cNvPr>
          <p:cNvSpPr>
            <a:spLocks noGrp="1"/>
          </p:cNvSpPr>
          <p:nvPr/>
        </p:nvSpPr>
        <p:spPr>
          <a:xfrm>
            <a:off x="462280" y="5720989"/>
            <a:ext cx="11409680" cy="5373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不同</a:t>
            </a: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CPU </a:t>
            </a: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核心修改自己的</a:t>
            </a: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L1</a:t>
            </a: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中的变量，但因为这些变量位于同一个缓存行，会产生写权限竞争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6CB596B-D8AE-DD3A-80A9-21C243B3B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1219249"/>
            <a:ext cx="5664200" cy="405156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2B0D81C-DD7C-885F-B9F9-16DEB711100E}"/>
              </a:ext>
            </a:extLst>
          </p:cNvPr>
          <p:cNvSpPr>
            <a:spLocks noGrp="1"/>
          </p:cNvSpPr>
          <p:nvPr/>
        </p:nvSpPr>
        <p:spPr>
          <a:xfrm>
            <a:off x="6593840" y="1525768"/>
            <a:ext cx="4810759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各个核的计数器位于同一个缓存行；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8A4B04-E59B-E3B7-9661-3E658750CB5B}"/>
              </a:ext>
            </a:extLst>
          </p:cNvPr>
          <p:cNvSpPr>
            <a:spLocks noGrp="1"/>
          </p:cNvSpPr>
          <p:nvPr/>
        </p:nvSpPr>
        <p:spPr>
          <a:xfrm>
            <a:off x="6593840" y="2253204"/>
            <a:ext cx="4810759" cy="7439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各个核在自己的</a:t>
            </a: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L1</a:t>
            </a: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cache </a:t>
            </a: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的缓存行中修改自己计数器的值；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3D7F4E-3725-C452-31EC-A65E57388585}"/>
              </a:ext>
            </a:extLst>
          </p:cNvPr>
          <p:cNvSpPr>
            <a:spLocks noGrp="1"/>
          </p:cNvSpPr>
          <p:nvPr/>
        </p:nvSpPr>
        <p:spPr>
          <a:xfrm>
            <a:off x="6593840" y="3429000"/>
            <a:ext cx="4810759" cy="7439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各个核在自己的</a:t>
            </a: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L1</a:t>
            </a: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cache </a:t>
            </a: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的缓存行中修改自己计数器的值；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729675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40BA-5A3A-3AC3-F44B-0531DC49D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C7E8D6AF-4B09-3A3B-9DAE-81883411F958}"/>
              </a:ext>
            </a:extLst>
          </p:cNvPr>
          <p:cNvSpPr>
            <a:spLocks noGrp="1"/>
          </p:cNvSpPr>
          <p:nvPr/>
        </p:nvSpPr>
        <p:spPr>
          <a:xfrm>
            <a:off x="8708571" y="3073291"/>
            <a:ext cx="2760618" cy="225635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308DF6-2D8B-5FC1-89CC-2D1AA0C8D23E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0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实验一：线程数增加，性能反而下降</a:t>
            </a:r>
            <a:endParaRPr sz="30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2E75E00-41FA-B688-4E2A-8F7E0770C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3700" y="161925"/>
            <a:ext cx="1028700" cy="10287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E251B6A-6569-FEAD-F695-FD6C1A44FA9D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265598-1637-9883-2351-CD159427D82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28700" cy="28575"/>
          </a:xfrm>
          <a:prstGeom prst="rect">
            <a:avLst/>
          </a:prstGeom>
          <a:solidFill>
            <a:srgbClr val="003F8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4534F8-3B4E-4415-1EB1-C6C85D333E34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72800" cy="9525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4456FA-1334-7E63-6314-E8AF3EBC6CAE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rPr>
              <a:t>zhanghao4536@zju.edu.dn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6D7970-F736-15C7-6E1A-3607578CD8EF}"/>
              </a:ext>
            </a:extLst>
          </p:cNvPr>
          <p:cNvSpPr>
            <a:spLocks noGrp="1"/>
          </p:cNvSpPr>
          <p:nvPr/>
        </p:nvSpPr>
        <p:spPr>
          <a:xfrm>
            <a:off x="11068050" y="63722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0D24B3-D4E0-976D-F885-5B642ED40B4D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40208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实验设计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A91BFA-0B50-E775-2C41-BFF638A6A189}"/>
              </a:ext>
            </a:extLst>
          </p:cNvPr>
          <p:cNvSpPr>
            <a:spLocks noGrp="1"/>
          </p:cNvSpPr>
          <p:nvPr/>
        </p:nvSpPr>
        <p:spPr>
          <a:xfrm>
            <a:off x="2415176" y="1752599"/>
            <a:ext cx="8652874" cy="7302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4364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设置 </a:t>
            </a:r>
            <a:r>
              <a:rPr lang="en-US" altLang="zh-CN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6 </a:t>
            </a: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组实验，线程数分别为</a:t>
            </a:r>
            <a:r>
              <a:rPr lang="en-US" altLang="zh-CN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1,2,4,8,16,32</a:t>
            </a: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，共同更新一个全局计数器，达到 </a:t>
            </a:r>
            <a:r>
              <a:rPr lang="en-US" altLang="zh-CN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12 </a:t>
            </a: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亿次停止，每个耗时统计</a:t>
            </a:r>
            <a:r>
              <a:rPr lang="en-US" altLang="zh-CN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10 </a:t>
            </a: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次，取中位数作为代表耗时。</a:t>
            </a:r>
            <a:endParaRPr sz="1875" b="0" dirty="0">
              <a:solidFill>
                <a:srgbClr val="24364B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56F8A42-07E5-72C0-45A6-BE46476BA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05219"/>
            <a:ext cx="7772400" cy="298595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87AD215-EC79-1EA3-08C3-213A3D1F55C0}"/>
              </a:ext>
            </a:extLst>
          </p:cNvPr>
          <p:cNvSpPr>
            <a:spLocks noGrp="1"/>
          </p:cNvSpPr>
          <p:nvPr/>
        </p:nvSpPr>
        <p:spPr>
          <a:xfrm>
            <a:off x="9026571" y="3297227"/>
            <a:ext cx="2241778" cy="19198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同一个任务，单线程是 </a:t>
            </a:r>
            <a:r>
              <a:rPr lang="en-US" altLang="zh-CN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32 </a:t>
            </a:r>
            <a:r>
              <a:rPr lang="zh-CN" altLang="en-US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线程执行速度的 </a:t>
            </a:r>
            <a:r>
              <a:rPr lang="en-US" altLang="zh-CN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4.05 </a:t>
            </a:r>
            <a:r>
              <a:rPr lang="zh-CN" altLang="en-US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倍</a:t>
            </a:r>
            <a:endParaRPr sz="28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14378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4F9D-61AA-9804-E05E-B9CB877D5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BA8CEC5-18BB-BCA5-5000-5FA6AF435C54}"/>
              </a:ext>
            </a:extLst>
          </p:cNvPr>
          <p:cNvSpPr>
            <a:spLocks noGrp="1"/>
          </p:cNvSpPr>
          <p:nvPr/>
        </p:nvSpPr>
        <p:spPr>
          <a:xfrm>
            <a:off x="8954724" y="2925780"/>
            <a:ext cx="2760618" cy="2256355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C5728A-52DC-D165-2C10-9632F4659641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0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实验二：变量位于不同缓存行，性能更高</a:t>
            </a:r>
            <a:endParaRPr sz="30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79A19C3-B9D0-528A-EE46-1F1897E34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3700" y="161925"/>
            <a:ext cx="1028700" cy="10287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A30BAF7-A30F-55A5-B12B-1D49FB0D8F38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647F9C-65D3-EC4E-111D-A6FDB1229B94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28700" cy="28575"/>
          </a:xfrm>
          <a:prstGeom prst="rect">
            <a:avLst/>
          </a:prstGeom>
          <a:solidFill>
            <a:srgbClr val="003F8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CE46C2-E108-2FBE-C96B-B4302731AE9B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72800" cy="9525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D2F625-5633-90BC-FB7D-52070B19B159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rPr>
              <a:t>zhanghao4536@zju.edu.dn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AB4FE1-EF75-FAD6-F118-3D6799AE3788}"/>
              </a:ext>
            </a:extLst>
          </p:cNvPr>
          <p:cNvSpPr>
            <a:spLocks noGrp="1"/>
          </p:cNvSpPr>
          <p:nvPr/>
        </p:nvSpPr>
        <p:spPr>
          <a:xfrm>
            <a:off x="11068050" y="63722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7A6BFA-9708-215F-68F9-1EA297383FA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40208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实验设计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EC0190-816E-C486-F1F8-DC630D1B8C29}"/>
              </a:ext>
            </a:extLst>
          </p:cNvPr>
          <p:cNvSpPr>
            <a:spLocks noGrp="1"/>
          </p:cNvSpPr>
          <p:nvPr/>
        </p:nvSpPr>
        <p:spPr>
          <a:xfrm>
            <a:off x="2415176" y="1752599"/>
            <a:ext cx="8652874" cy="7302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24364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设置 </a:t>
            </a:r>
            <a:r>
              <a:rPr lang="en-US" altLang="zh-CN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6 </a:t>
            </a:r>
            <a:r>
              <a:rPr lang="zh-CN" altLang="en-US" sz="1875" dirty="0">
                <a:solidFill>
                  <a:srgbClr val="24364B"/>
                </a:solidFill>
                <a:latin typeface="PingFang SC"/>
                <a:ea typeface="PingFang SC"/>
                <a:cs typeface="PingFang SC"/>
              </a:rPr>
              <a:t>组对比实验，每组实验线程数相同，只改变线程的计数器位置，比较不同内存布局对多线程性能的影响</a:t>
            </a:r>
            <a:endParaRPr sz="1875" b="0" dirty="0">
              <a:solidFill>
                <a:srgbClr val="24364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6344E8-DBF8-D67B-2F9F-ABD5D7FC57BD}"/>
              </a:ext>
            </a:extLst>
          </p:cNvPr>
          <p:cNvSpPr>
            <a:spLocks noGrp="1"/>
          </p:cNvSpPr>
          <p:nvPr/>
        </p:nvSpPr>
        <p:spPr>
          <a:xfrm>
            <a:off x="9088209" y="3138285"/>
            <a:ext cx="2241778" cy="19198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32 </a:t>
            </a:r>
            <a:r>
              <a:rPr lang="zh-CN" altLang="en-US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线程下，</a:t>
            </a:r>
            <a:r>
              <a:rPr lang="en-US" altLang="zh-CN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Padded </a:t>
            </a:r>
            <a:r>
              <a:rPr lang="zh-CN" altLang="en-US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是</a:t>
            </a:r>
            <a:r>
              <a:rPr lang="en-US" altLang="zh-CN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Compact </a:t>
            </a:r>
            <a:r>
              <a:rPr lang="zh-CN" altLang="en-US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速度的 </a:t>
            </a:r>
            <a:r>
              <a:rPr lang="en-US" altLang="zh-CN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15.9 </a:t>
            </a:r>
            <a:r>
              <a:rPr lang="zh-CN" altLang="en-US" sz="28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倍</a:t>
            </a:r>
            <a:endParaRPr sz="28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D2DC3C4-CB33-3D66-D839-9BF16CDDA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502669"/>
            <a:ext cx="8353697" cy="314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0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DAF76-0A97-A19B-F421-FAAE3842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A0748B0-B0E2-3389-CA7D-27DB97A81D19}"/>
              </a:ext>
            </a:extLst>
          </p:cNvPr>
          <p:cNvSpPr>
            <a:spLocks noGrp="1"/>
          </p:cNvSpPr>
          <p:nvPr/>
        </p:nvSpPr>
        <p:spPr>
          <a:xfrm>
            <a:off x="609600" y="447675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0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思考</a:t>
            </a:r>
            <a:endParaRPr sz="30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ED0D415-A2B1-0F11-3579-354144FB9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3700" y="161925"/>
            <a:ext cx="1028700" cy="10287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4744E8F-44B1-4266-9B8C-65FDCDE6B5D4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D8C11C-38F9-0A94-1B7C-36B9C7B5301A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28700" cy="28575"/>
          </a:xfrm>
          <a:prstGeom prst="rect">
            <a:avLst/>
          </a:prstGeom>
          <a:solidFill>
            <a:srgbClr val="003F8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DBCB31-FFDD-DCF3-E143-0074B8F79F40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72800" cy="9525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1C6696-75FD-140B-1F70-4F644F880C8D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619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58B"/>
                </a:solidFill>
                <a:latin typeface="PingFang SC"/>
                <a:ea typeface="PingFang SC"/>
                <a:cs typeface="PingFang SC"/>
              </a:rPr>
              <a:t>zhanghao4536@zju.edu.dn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018D24-E3A5-CD61-D623-DE5D9A3D234D}"/>
              </a:ext>
            </a:extLst>
          </p:cNvPr>
          <p:cNvSpPr>
            <a:spLocks noGrp="1"/>
          </p:cNvSpPr>
          <p:nvPr/>
        </p:nvSpPr>
        <p:spPr>
          <a:xfrm>
            <a:off x="11068050" y="63722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76B167-C13F-B91B-3271-0876D3D0EB46}"/>
              </a:ext>
            </a:extLst>
          </p:cNvPr>
          <p:cNvSpPr>
            <a:spLocks noGrp="1"/>
          </p:cNvSpPr>
          <p:nvPr/>
        </p:nvSpPr>
        <p:spPr>
          <a:xfrm>
            <a:off x="609599" y="1768644"/>
            <a:ext cx="11267209" cy="834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2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真正限制性能的，可能是数据如何组织，而不是计算资源不足；</a:t>
            </a:r>
            <a:endParaRPr sz="32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588DEE-0A8D-D59F-ADFB-4E01D319318D}"/>
              </a:ext>
            </a:extLst>
          </p:cNvPr>
          <p:cNvSpPr>
            <a:spLocks noGrp="1"/>
          </p:cNvSpPr>
          <p:nvPr/>
        </p:nvSpPr>
        <p:spPr>
          <a:xfrm>
            <a:off x="6009410" y="2547980"/>
            <a:ext cx="7661564" cy="50221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1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软件层面的独立，不意味着硬件层面的独立；</a:t>
            </a:r>
            <a:endParaRPr sz="21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7B6155-22CF-3270-769D-E7744328BC85}"/>
              </a:ext>
            </a:extLst>
          </p:cNvPr>
          <p:cNvSpPr>
            <a:spLocks noGrp="1"/>
          </p:cNvSpPr>
          <p:nvPr/>
        </p:nvSpPr>
        <p:spPr>
          <a:xfrm>
            <a:off x="609599" y="4227393"/>
            <a:ext cx="11267209" cy="834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2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多</a:t>
            </a:r>
            <a:r>
              <a:rPr lang="en-US" altLang="zh-CN" sz="32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 GPU </a:t>
            </a:r>
            <a:r>
              <a:rPr lang="zh-CN" altLang="en-US" sz="3200" b="1" dirty="0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训练的瓶颈，本质也是并行收益和写作成本之间的权衡；</a:t>
            </a:r>
            <a:endParaRPr sz="3200" b="1" dirty="0">
              <a:solidFill>
                <a:srgbClr val="003F88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614748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23C0E02-E780-4CAC-BEF8-0082F00826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/>
        </p:blipFill>
        <p:spPr>
          <a:xfrm>
            <a:off x="2857500" y="190500"/>
            <a:ext cx="6477000" cy="6477000"/>
          </a:xfrm>
          <a:prstGeom prst="rect">
            <a:avLst/>
          </a:prstGeom>
        </p:spPr>
      </p:pic>
      <p:sp>
        <p:nvSpPr>
          <p:cNvPr id="2" name="浙江大学">
            <a:extLst>
              <a:ext uri="{FF2B5EF4-FFF2-40B4-BE49-F238E27FC236}">
                <a16:creationId xmlns:a16="http://schemas.microsoft.com/office/drawing/2014/main" id="{79C96553-6163-48EF-9AF8-803E52628A4E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 algn="l"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l">
              <a:buNone/>
              <a:defRPr sz="2625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3" name="ZHEJIANG UNIVERSITY">
            <a:extLst>
              <a:ext uri="{FF2B5EF4-FFF2-40B4-BE49-F238E27FC236}">
                <a16:creationId xmlns:a16="http://schemas.microsoft.com/office/drawing/2014/main" id="{7E90CD0D-C211-47DB-AC7F-B445FBDE0FE7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0744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 algn="ctr"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buNone/>
              <a:defRPr sz="1200" b="0">
                <a:solidFill>
                  <a:srgbClr val="71849B"/>
                </a:solidFill>
                <a:latin typeface="PingFang SC"/>
                <a:ea typeface="PingFang SC"/>
                <a:cs typeface="PingFang SC"/>
              </a:defRPr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630265-A8F3-4EAC-B09E-CAF36974DA75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10744200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8F6D3F-5EC4-457B-96D2-FC1FF22071D3}"/>
              </a:ext>
            </a:extLst>
          </p:cNvPr>
          <p:cNvSpPr>
            <a:spLocks noGrp="1"/>
          </p:cNvSpPr>
          <p:nvPr/>
        </p:nvSpPr>
        <p:spPr>
          <a:xfrm>
            <a:off x="723900" y="6000750"/>
            <a:ext cx="10744200" cy="9525"/>
          </a:xfrm>
          <a:prstGeom prst="rect">
            <a:avLst/>
          </a:prstGeom>
          <a:solidFill>
            <a:srgbClr val="D8E4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感谢聆听">
            <a:extLst>
              <a:ext uri="{FF2B5EF4-FFF2-40B4-BE49-F238E27FC236}">
                <a16:creationId xmlns:a16="http://schemas.microsoft.com/office/drawing/2014/main" id="{949CF4C9-8491-45AE-A194-CDA82C3D80F9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1074420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 algn="ctr"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buNone/>
              <a:def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003F88"/>
                </a:solidFill>
                <a:latin typeface="PingFang SC"/>
                <a:ea typeface="PingFang SC"/>
                <a:cs typeface="PingFang SC"/>
              </a:rPr>
              <a:t>感谢聆听</a:t>
            </a:r>
          </a:p>
        </p:txBody>
      </p:sp>
      <p:sp>
        <p:nvSpPr>
          <p:cNvPr id="8" name="敬请批评指正">
            <a:extLst>
              <a:ext uri="{FF2B5EF4-FFF2-40B4-BE49-F238E27FC236}">
                <a16:creationId xmlns:a16="http://schemas.microsoft.com/office/drawing/2014/main" id="{0A6C2C1A-EEC4-41E1-9C59-770DEC363337}"/>
              </a:ext>
            </a:extLst>
          </p:cNvPr>
          <p:cNvSpPr>
            <a:spLocks noGrp="1"/>
          </p:cNvSpPr>
          <p:nvPr/>
        </p:nvSpPr>
        <p:spPr>
          <a:xfrm>
            <a:off x="723900" y="3752850"/>
            <a:ext cx="107442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 algn="ctr"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 algn="ctr">
              <a:buNone/>
              <a:def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647F9E"/>
                </a:solidFill>
                <a:latin typeface="PingFang SC"/>
                <a:ea typeface="PingFang SC"/>
                <a:cs typeface="PingFang SC"/>
              </a:rPr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8754438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666</Words>
  <Application>Microsoft Macintosh PowerPoint</Application>
  <DocSecurity>0</DocSecurity>
  <PresentationFormat>宽屏</PresentationFormat>
  <Paragraphs>59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svip1108</cp:lastModifiedBy>
  <cp:revision>6</cp:revision>
  <dcterms:created xsi:type="dcterms:W3CDTF">2026-10-10T05:37:11Z</dcterms:created>
  <dcterms:modified xsi:type="dcterms:W3CDTF">2026-10-21T08:54:46Z</dcterms:modified>
</cp:coreProperties>
</file>